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8" r:id="rId3"/>
    <p:sldId id="269" r:id="rId4"/>
    <p:sldId id="270" r:id="rId5"/>
    <p:sldId id="260" r:id="rId6"/>
    <p:sldId id="257" r:id="rId7"/>
    <p:sldId id="259" r:id="rId8"/>
    <p:sldId id="262" r:id="rId9"/>
    <p:sldId id="266" r:id="rId10"/>
    <p:sldId id="271" r:id="rId11"/>
    <p:sldId id="272" r:id="rId12"/>
    <p:sldId id="273" r:id="rId13"/>
    <p:sldId id="263" r:id="rId14"/>
    <p:sldId id="274"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24" autoAdjust="0"/>
  </p:normalViewPr>
  <p:slideViewPr>
    <p:cSldViewPr>
      <p:cViewPr>
        <p:scale>
          <a:sx n="80" d="100"/>
          <a:sy n="80" d="100"/>
        </p:scale>
        <p:origin x="-1086" y="150"/>
      </p:cViewPr>
      <p:guideLst>
        <p:guide orient="horz" pos="2160"/>
        <p:guide pos="2880"/>
      </p:guideLst>
    </p:cSldViewPr>
  </p:slideViewPr>
  <p:outlineViewPr>
    <p:cViewPr>
      <p:scale>
        <a:sx n="33" d="100"/>
        <a:sy n="33" d="100"/>
      </p:scale>
      <p:origin x="0" y="1026"/>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2B157C-3DB6-406B-AD6A-0F940E68A6CB}" type="datetimeFigureOut">
              <a:rPr lang="en-US" smtClean="0"/>
              <a:pPr/>
              <a:t>3/1/2024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E47C-CDC5-48B0-8F10-50CE25D4806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E4E47C-CDC5-48B0-8F10-50CE25D48061}"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sciencedirect.com/science/article/pii/S0263224114003765" TargetMode="External"/><Relationship Id="rId2" Type="http://schemas.openxmlformats.org/officeDocument/2006/relationships/hyperlink" Target="https://www.sciencedirect.com/science/article/pii/S2214785322059788"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399"/>
          </a:xfrm>
        </p:spPr>
        <p:txBody>
          <a:bodyPr/>
          <a:lstStyle/>
          <a:p>
            <a:r>
              <a:rPr lang="en-US" dirty="0" smtClean="0"/>
              <a:t>	</a:t>
            </a:r>
            <a:endParaRPr lang="en-US" dirty="0"/>
          </a:p>
        </p:txBody>
      </p:sp>
      <p:sp>
        <p:nvSpPr>
          <p:cNvPr id="4" name="TextBox 3"/>
          <p:cNvSpPr txBox="1"/>
          <p:nvPr/>
        </p:nvSpPr>
        <p:spPr>
          <a:xfrm>
            <a:off x="1295400" y="1524000"/>
            <a:ext cx="6629400"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b="1" dirty="0" smtClean="0">
                <a:effectLst>
                  <a:outerShdw blurRad="38100" dist="38100" dir="2700000" algn="tl">
                    <a:srgbClr val="000000">
                      <a:alpha val="43137"/>
                    </a:srgbClr>
                  </a:outerShdw>
                </a:effectLst>
                <a:latin typeface="Times New Roman" pitchFamily="18" charset="0"/>
                <a:cs typeface="Times New Roman" pitchFamily="18" charset="0"/>
              </a:rPr>
              <a:t>IDLER MONITORING DEVICE FOR  CONVEYOUR BELTS</a:t>
            </a:r>
            <a:endParaRPr lang="en-US" sz="28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Subtitle 4"/>
          <p:cNvSpPr>
            <a:spLocks noGrp="1"/>
          </p:cNvSpPr>
          <p:nvPr>
            <p:ph type="subTitle" idx="1"/>
          </p:nvPr>
        </p:nvSpPr>
        <p:spPr>
          <a:xfrm>
            <a:off x="228600" y="3886200"/>
            <a:ext cx="4724400" cy="1723549"/>
          </a:xfrm>
          <a:prstGeom prst="rect">
            <a:avLst/>
          </a:prstGeom>
        </p:spPr>
        <p:txBody>
          <a:bodyPr wrap="square">
            <a:spAutoFit/>
          </a:bodyPr>
          <a:lstStyle/>
          <a:p>
            <a:pPr marL="365760" lvl="0" indent="-255905" algn="l">
              <a:spcBef>
                <a:spcPts val="400"/>
              </a:spcBef>
              <a:buSzPct val="68000"/>
              <a:defRPr/>
            </a:pPr>
            <a:r>
              <a:rPr lang="en-US" sz="2400" dirty="0" smtClean="0">
                <a:solidFill>
                  <a:schemeClr val="tx1">
                    <a:lumMod val="75000"/>
                    <a:lumOff val="25000"/>
                  </a:schemeClr>
                </a:solidFill>
                <a:latin typeface="Bahnschrift SemiBold" pitchFamily="34" charset="0"/>
                <a:cs typeface="Times New Roman" panose="02020603050405020304" charset="0"/>
              </a:rPr>
              <a:t>ALEX THIRUVARATHAN</a:t>
            </a:r>
            <a:r>
              <a:rPr lang="en-US" sz="2400" dirty="0">
                <a:solidFill>
                  <a:schemeClr val="tx1">
                    <a:lumMod val="75000"/>
                    <a:lumOff val="25000"/>
                  </a:schemeClr>
                </a:solidFill>
                <a:latin typeface="Bahnschrift SemiBold" pitchFamily="34" charset="0"/>
                <a:cs typeface="Times New Roman" panose="02020603050405020304" charset="0"/>
              </a:rPr>
              <a:t> </a:t>
            </a:r>
            <a:r>
              <a:rPr lang="en-US" sz="2400" dirty="0" smtClean="0">
                <a:solidFill>
                  <a:schemeClr val="tx1">
                    <a:lumMod val="75000"/>
                    <a:lumOff val="25000"/>
                  </a:schemeClr>
                </a:solidFill>
                <a:latin typeface="Bahnschrift SemiBold" pitchFamily="34" charset="0"/>
                <a:cs typeface="Times New Roman" panose="02020603050405020304" charset="0"/>
              </a:rPr>
              <a:t>M J</a:t>
            </a:r>
          </a:p>
          <a:p>
            <a:pPr marL="365760" lvl="0" indent="-255905" algn="l">
              <a:spcBef>
                <a:spcPts val="400"/>
              </a:spcBef>
              <a:buSzPct val="68000"/>
              <a:defRPr/>
            </a:pPr>
            <a:r>
              <a:rPr lang="en-US" sz="2400" dirty="0" smtClean="0">
                <a:solidFill>
                  <a:schemeClr val="tx1">
                    <a:lumMod val="75000"/>
                    <a:lumOff val="25000"/>
                  </a:schemeClr>
                </a:solidFill>
                <a:latin typeface="Bahnschrift SemiBold" pitchFamily="34" charset="0"/>
                <a:cs typeface="Times New Roman" panose="02020603050405020304" charset="0"/>
              </a:rPr>
              <a:t>HARI VENGATESH M</a:t>
            </a:r>
          </a:p>
          <a:p>
            <a:pPr marL="365760" lvl="0" indent="-255905" algn="l">
              <a:spcBef>
                <a:spcPts val="400"/>
              </a:spcBef>
              <a:buSzPct val="68000"/>
              <a:defRPr/>
            </a:pPr>
            <a:r>
              <a:rPr lang="en-US" sz="2400" dirty="0" smtClean="0">
                <a:solidFill>
                  <a:schemeClr val="tx1">
                    <a:lumMod val="75000"/>
                    <a:lumOff val="25000"/>
                  </a:schemeClr>
                </a:solidFill>
                <a:latin typeface="Bahnschrift SemiBold" pitchFamily="34" charset="0"/>
                <a:cs typeface="Times New Roman" panose="02020603050405020304" charset="0"/>
              </a:rPr>
              <a:t>YUVARAJ KUMAR M</a:t>
            </a:r>
          </a:p>
          <a:p>
            <a:pPr marL="365760" lvl="0" indent="-255905" algn="l">
              <a:spcBef>
                <a:spcPts val="400"/>
              </a:spcBef>
              <a:buSzPct val="68000"/>
              <a:defRPr/>
            </a:pPr>
            <a:endParaRPr lang="en-US" sz="2400" dirty="0" smtClean="0">
              <a:latin typeface="Times New Roman" panose="02020603050405020304" charset="0"/>
              <a:cs typeface="Times New Roman" panose="02020603050405020304" charset="0"/>
            </a:endParaRPr>
          </a:p>
        </p:txBody>
      </p:sp>
      <p:sp>
        <p:nvSpPr>
          <p:cNvPr id="8" name="Rectangle 7"/>
          <p:cNvSpPr/>
          <p:nvPr/>
        </p:nvSpPr>
        <p:spPr>
          <a:xfrm>
            <a:off x="1524000" y="5029200"/>
            <a:ext cx="5654040" cy="1569660"/>
          </a:xfrm>
          <a:prstGeom prst="rect">
            <a:avLst/>
          </a:prstGeom>
        </p:spPr>
        <p:txBody>
          <a:bodyPr wrap="square">
            <a:spAutoFit/>
          </a:bodyPr>
          <a:lstStyle/>
          <a:p>
            <a:pPr lvl="0">
              <a:spcBef>
                <a:spcPct val="0"/>
              </a:spcBef>
              <a:defRPr/>
            </a:pPr>
            <a:endParaRPr lang="en-US" sz="2400" b="1" dirty="0" smtClean="0">
              <a:effectLst>
                <a:outerShdw blurRad="31750" dist="25400" dir="5400000" algn="tl" rotWithShape="0">
                  <a:srgbClr val="000000">
                    <a:alpha val="25000"/>
                  </a:srgbClr>
                </a:outerShdw>
              </a:effectLst>
              <a:latin typeface="Times New Roman" panose="02020603050405020304" charset="0"/>
              <a:cs typeface="Times New Roman" panose="02020603050405020304" charset="0"/>
            </a:endParaRPr>
          </a:p>
          <a:p>
            <a:pPr lvl="0">
              <a:spcBef>
                <a:spcPct val="0"/>
              </a:spcBef>
              <a:defRPr/>
            </a:pPr>
            <a:endParaRPr lang="en-US" sz="2400" b="1" dirty="0" smtClean="0">
              <a:effectLst>
                <a:outerShdw blurRad="31750" dist="25400" dir="5400000" algn="tl" rotWithShape="0">
                  <a:srgbClr val="000000">
                    <a:alpha val="25000"/>
                  </a:srgbClr>
                </a:outerShdw>
              </a:effectLst>
              <a:latin typeface="Times New Roman" panose="02020603050405020304" charset="0"/>
              <a:cs typeface="Times New Roman" panose="02020603050405020304" charset="0"/>
            </a:endParaRPr>
          </a:p>
          <a:p>
            <a:pPr lvl="0">
              <a:spcBef>
                <a:spcPct val="0"/>
              </a:spcBef>
              <a:defRPr/>
            </a:pPr>
            <a:endParaRPr lang="en-US" sz="2400" b="1" dirty="0" smtClean="0">
              <a:effectLst>
                <a:outerShdw blurRad="31750" dist="25400" dir="5400000" algn="tl" rotWithShape="0">
                  <a:srgbClr val="000000">
                    <a:alpha val="25000"/>
                  </a:srgbClr>
                </a:outerShdw>
              </a:effectLst>
              <a:latin typeface="Times New Roman" panose="02020603050405020304" charset="0"/>
              <a:cs typeface="Times New Roman" panose="02020603050405020304" charset="0"/>
            </a:endParaRPr>
          </a:p>
          <a:p>
            <a:pPr lvl="0">
              <a:spcBef>
                <a:spcPct val="0"/>
              </a:spcBef>
              <a:defRPr/>
            </a:pPr>
            <a:endParaRPr lang="en-US" sz="2400" b="1" dirty="0">
              <a:effectLst>
                <a:outerShdw blurRad="31750" dist="25400" dir="5400000" algn="tl" rotWithShape="0">
                  <a:srgbClr val="000000">
                    <a:alpha val="25000"/>
                  </a:srgbClr>
                </a:outerShdw>
              </a:effectLst>
              <a:latin typeface="Times New Roman" panose="02020603050405020304" charset="0"/>
              <a:cs typeface="Times New Roman" panose="02020603050405020304" charset="0"/>
            </a:endParaRPr>
          </a:p>
        </p:txBody>
      </p:sp>
      <p:sp>
        <p:nvSpPr>
          <p:cNvPr id="13" name="TextBox 12"/>
          <p:cNvSpPr txBox="1"/>
          <p:nvPr/>
        </p:nvSpPr>
        <p:spPr>
          <a:xfrm>
            <a:off x="381000" y="5257800"/>
            <a:ext cx="5257800" cy="646331"/>
          </a:xfrm>
          <a:prstGeom prst="rect">
            <a:avLst/>
          </a:prstGeom>
          <a:noFill/>
        </p:spPr>
        <p:txBody>
          <a:bodyPr wrap="square" rtlCol="0">
            <a:spAutoFit/>
          </a:bodyPr>
          <a:lstStyle/>
          <a:p>
            <a:pPr algn="just">
              <a:lnSpc>
                <a:spcPct val="60000"/>
              </a:lnSpc>
            </a:pPr>
            <a:r>
              <a:rPr lang="en-US" sz="2400" dirty="0" smtClean="0">
                <a:solidFill>
                  <a:schemeClr val="tx1">
                    <a:lumMod val="85000"/>
                    <a:lumOff val="15000"/>
                  </a:schemeClr>
                </a:solidFill>
                <a:latin typeface="Bahnschrift SemiBold" pitchFamily="34" charset="0"/>
              </a:rPr>
              <a:t>EEE</a:t>
            </a:r>
            <a:r>
              <a:rPr lang="en-US" dirty="0" smtClean="0">
                <a:solidFill>
                  <a:schemeClr val="tx1">
                    <a:lumMod val="85000"/>
                    <a:lumOff val="15000"/>
                  </a:schemeClr>
                </a:solidFill>
                <a:latin typeface="Bahnschrift SemiBold" pitchFamily="34" charset="0"/>
              </a:rPr>
              <a:t> – 2</a:t>
            </a:r>
            <a:r>
              <a:rPr lang="en-US" sz="2000" baseline="30000" dirty="0" smtClean="0">
                <a:solidFill>
                  <a:schemeClr val="tx1">
                    <a:lumMod val="85000"/>
                    <a:lumOff val="15000"/>
                  </a:schemeClr>
                </a:solidFill>
                <a:latin typeface="Bahnschrift SemiBold" pitchFamily="34" charset="0"/>
              </a:rPr>
              <a:t>ND</a:t>
            </a:r>
            <a:r>
              <a:rPr lang="en-US" dirty="0" smtClean="0">
                <a:solidFill>
                  <a:schemeClr val="tx1">
                    <a:lumMod val="85000"/>
                    <a:lumOff val="15000"/>
                  </a:schemeClr>
                </a:solidFill>
                <a:latin typeface="Bahnschrift SemiBold" pitchFamily="34" charset="0"/>
              </a:rPr>
              <a:t> YEAR</a:t>
            </a:r>
          </a:p>
          <a:p>
            <a:pPr algn="just">
              <a:lnSpc>
                <a:spcPct val="60000"/>
              </a:lnSpc>
            </a:pPr>
            <a:endParaRPr lang="en-US" dirty="0" smtClean="0">
              <a:solidFill>
                <a:schemeClr val="tx1">
                  <a:lumMod val="85000"/>
                  <a:lumOff val="15000"/>
                </a:schemeClr>
              </a:solidFill>
              <a:latin typeface="Bahnschrift SemiBold" pitchFamily="34" charset="0"/>
            </a:endParaRPr>
          </a:p>
          <a:p>
            <a:pPr algn="just">
              <a:lnSpc>
                <a:spcPct val="60000"/>
              </a:lnSpc>
            </a:pPr>
            <a:r>
              <a:rPr lang="en-US" dirty="0" smtClean="0">
                <a:solidFill>
                  <a:schemeClr val="tx1">
                    <a:lumMod val="85000"/>
                    <a:lumOff val="15000"/>
                  </a:schemeClr>
                </a:solidFill>
                <a:latin typeface="Bahnschrift SemiBold" pitchFamily="34" charset="0"/>
              </a:rPr>
              <a:t>VELAMMAL ENGINEERING COLLEGE - CHENNAI </a:t>
            </a:r>
            <a:endParaRPr lang="en-US" dirty="0">
              <a:solidFill>
                <a:schemeClr val="tx1">
                  <a:lumMod val="85000"/>
                  <a:lumOff val="15000"/>
                </a:schemeClr>
              </a:solidFill>
              <a:latin typeface="Bahnschrift SemiBold"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876800"/>
          </a:xfrm>
        </p:spPr>
        <p:txBody>
          <a:bodyPr>
            <a:normAutofit fontScale="77500" lnSpcReduction="20000"/>
          </a:bodyPr>
          <a:lstStyle/>
          <a:p>
            <a:pPr>
              <a:buNone/>
            </a:pPr>
            <a:r>
              <a:rPr lang="en-US" sz="3500" dirty="0" smtClean="0">
                <a:latin typeface="Agency FB" pitchFamily="34" charset="0"/>
              </a:rPr>
              <a:t>     </a:t>
            </a:r>
            <a:r>
              <a:rPr lang="en-US" sz="3600" dirty="0" smtClean="0">
                <a:latin typeface="Bahnschrift SemiLight" pitchFamily="34" charset="0"/>
              </a:rPr>
              <a:t>A belt conveyor is a widely used mechanical system for transporting materials efficiently in various industries. However, like any machinery, belt conveyors can sometimes encounter issues such as dislodgment, which occurs when the conveyor belt slips out of place or becomes misaligned.</a:t>
            </a:r>
          </a:p>
          <a:p>
            <a:pPr>
              <a:buNone/>
            </a:pPr>
            <a:r>
              <a:rPr lang="en-US" sz="3600" dirty="0" smtClean="0">
                <a:latin typeface="Bahnschrift SemiLight" pitchFamily="34" charset="0"/>
              </a:rPr>
              <a:t>    Dislodgment of a belt conveyor can lead to disruptions in production, safety hazards, and potential damage to the equipment. Understanding the causes and consequences of belt dislodgment is crucial for ensuring smooth operation and minimizing downtime.</a:t>
            </a:r>
          </a:p>
          <a:p>
            <a:endParaRPr lang="en-US" dirty="0"/>
          </a:p>
        </p:txBody>
      </p:sp>
      <p:sp>
        <p:nvSpPr>
          <p:cNvPr id="4" name="Title 1">
            <a:extLst>
              <a:ext uri="{FF2B5EF4-FFF2-40B4-BE49-F238E27FC236}">
                <a16:creationId xmlns:a16="http://schemas.microsoft.com/office/drawing/2014/main" xmlns="" id="{D67DB562-B01B-3524-57D2-8F1F1191B031}"/>
              </a:ext>
            </a:extLst>
          </p:cNvPr>
          <p:cNvSpPr>
            <a:spLocks noGrp="1"/>
          </p:cNvSpPr>
          <p:nvPr>
            <p:ph type="title"/>
          </p:nvPr>
        </p:nvSpPr>
        <p:spPr>
          <a:xfrm>
            <a:off x="2438400" y="457200"/>
            <a:ext cx="4320000" cy="900000"/>
          </a:xfrm>
        </p:spPr>
        <p:style>
          <a:lnRef idx="2">
            <a:schemeClr val="dk1"/>
          </a:lnRef>
          <a:fillRef idx="1">
            <a:schemeClr val="lt1"/>
          </a:fillRef>
          <a:effectRef idx="0">
            <a:schemeClr val="dk1"/>
          </a:effectRef>
          <a:fontRef idx="minor">
            <a:schemeClr val="dk1"/>
          </a:fontRef>
        </p:style>
        <p:txBody>
          <a:bodyPr>
            <a:normAutofit/>
          </a:bodyPr>
          <a:lstStyle/>
          <a:p>
            <a:r>
              <a:rPr lang="en-US" sz="3200" b="1" dirty="0">
                <a:effectLst>
                  <a:outerShdw blurRad="38100" dist="38100" dir="2700000" algn="tl">
                    <a:srgbClr val="000000">
                      <a:alpha val="43137"/>
                    </a:srgbClr>
                  </a:outerShdw>
                </a:effectLst>
                <a:latin typeface="Times New Roman" pitchFamily="18" charset="0"/>
                <a:cs typeface="Times New Roman" pitchFamily="18" charset="0"/>
              </a:rPr>
              <a:t>INTRODUCTION</a:t>
            </a:r>
            <a:endParaRPr lang="en-IN" sz="3200" b="1" dirty="0">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53961" lvl="1" indent="-326981">
              <a:lnSpc>
                <a:spcPts val="4125"/>
              </a:lnSpc>
              <a:buFont typeface="Wingdings" pitchFamily="2" charset="2"/>
              <a:buChar char="q"/>
            </a:pPr>
            <a:r>
              <a:rPr lang="en-IN" sz="1800" dirty="0" smtClean="0">
                <a:solidFill>
                  <a:srgbClr val="000000"/>
                </a:solidFill>
                <a:latin typeface="Libre Baskerville Bold"/>
              </a:rPr>
              <a:t>ABSTRACT</a:t>
            </a:r>
            <a:endParaRPr lang="en-US" sz="1800" dirty="0" smtClean="0">
              <a:solidFill>
                <a:srgbClr val="000000"/>
              </a:solidFill>
              <a:latin typeface="Libre Baskerville Bold"/>
            </a:endParaRPr>
          </a:p>
          <a:p>
            <a:pPr marL="653961" lvl="1" indent="-326981">
              <a:lnSpc>
                <a:spcPts val="4125"/>
              </a:lnSpc>
              <a:buFont typeface="Wingdings" pitchFamily="2" charset="2"/>
              <a:buChar char="q"/>
            </a:pPr>
            <a:r>
              <a:rPr lang="en-US" sz="1800" dirty="0" smtClean="0">
                <a:solidFill>
                  <a:srgbClr val="000000"/>
                </a:solidFill>
                <a:latin typeface="Libre Baskerville Bold"/>
              </a:rPr>
              <a:t>EXISTING AND PROPOSED SOLUTION</a:t>
            </a:r>
          </a:p>
          <a:p>
            <a:pPr marL="653961" lvl="1" indent="-326981">
              <a:lnSpc>
                <a:spcPts val="4125"/>
              </a:lnSpc>
              <a:buFont typeface="Wingdings" pitchFamily="2" charset="2"/>
              <a:buChar char="q"/>
            </a:pPr>
            <a:r>
              <a:rPr lang="en-US" sz="1800" dirty="0" smtClean="0">
                <a:solidFill>
                  <a:srgbClr val="000000"/>
                </a:solidFill>
                <a:latin typeface="Libre Baskerville Bold"/>
              </a:rPr>
              <a:t>REQUIREMENT</a:t>
            </a:r>
          </a:p>
          <a:p>
            <a:pPr marL="653961" lvl="1" indent="-326981">
              <a:lnSpc>
                <a:spcPts val="4125"/>
              </a:lnSpc>
              <a:buFont typeface="Wingdings" pitchFamily="2" charset="2"/>
              <a:buChar char="q"/>
            </a:pPr>
            <a:r>
              <a:rPr lang="en-US" sz="1800" dirty="0" smtClean="0">
                <a:solidFill>
                  <a:srgbClr val="000000"/>
                </a:solidFill>
                <a:latin typeface="Libre Baskerville Bold"/>
              </a:rPr>
              <a:t>BLOCK DIAGRAM</a:t>
            </a:r>
          </a:p>
          <a:p>
            <a:pPr marL="653961" lvl="1" indent="-326981">
              <a:lnSpc>
                <a:spcPts val="4125"/>
              </a:lnSpc>
              <a:buFont typeface="Wingdings" pitchFamily="2" charset="2"/>
              <a:buChar char="q"/>
            </a:pPr>
            <a:r>
              <a:rPr lang="en-US" sz="1800" dirty="0" smtClean="0">
                <a:solidFill>
                  <a:srgbClr val="000000"/>
                </a:solidFill>
                <a:latin typeface="Libre Baskerville Bold"/>
              </a:rPr>
              <a:t>BENEFITS</a:t>
            </a:r>
          </a:p>
          <a:p>
            <a:pPr marL="653961" lvl="1" indent="-326981">
              <a:lnSpc>
                <a:spcPts val="4125"/>
              </a:lnSpc>
              <a:buFont typeface="Wingdings" pitchFamily="2" charset="2"/>
              <a:buChar char="q"/>
            </a:pPr>
            <a:r>
              <a:rPr lang="en-US" sz="1800" dirty="0" smtClean="0">
                <a:solidFill>
                  <a:srgbClr val="000000"/>
                </a:solidFill>
                <a:latin typeface="Libre Baskerville Bold"/>
              </a:rPr>
              <a:t>APPLICATION</a:t>
            </a:r>
          </a:p>
          <a:p>
            <a:pPr marL="653961" lvl="1" indent="-326981">
              <a:lnSpc>
                <a:spcPts val="4125"/>
              </a:lnSpc>
              <a:buFont typeface="Wingdings" pitchFamily="2" charset="2"/>
              <a:buChar char="q"/>
            </a:pPr>
            <a:r>
              <a:rPr lang="en-US" sz="1800" dirty="0" smtClean="0">
                <a:solidFill>
                  <a:srgbClr val="000000"/>
                </a:solidFill>
                <a:latin typeface="Libre Baskerville Bold"/>
              </a:rPr>
              <a:t>CONCLUSION</a:t>
            </a:r>
          </a:p>
          <a:p>
            <a:endParaRPr lang="en-US" dirty="0"/>
          </a:p>
        </p:txBody>
      </p:sp>
      <p:sp>
        <p:nvSpPr>
          <p:cNvPr id="4" name="Title 1"/>
          <p:cNvSpPr>
            <a:spLocks noGrp="1"/>
          </p:cNvSpPr>
          <p:nvPr>
            <p:ph type="title"/>
          </p:nvPr>
        </p:nvSpPr>
        <p:spPr>
          <a:xfrm>
            <a:off x="2438400" y="457200"/>
            <a:ext cx="4320000" cy="900000"/>
          </a:xfrm>
        </p:spPr>
        <p:style>
          <a:lnRef idx="2">
            <a:schemeClr val="dk1"/>
          </a:lnRef>
          <a:fillRef idx="1">
            <a:schemeClr val="lt1"/>
          </a:fillRef>
          <a:effectRef idx="0">
            <a:schemeClr val="dk1"/>
          </a:effectRef>
          <a:fontRef idx="minor">
            <a:schemeClr val="dk1"/>
          </a:fontRef>
        </p:style>
        <p:txBody>
          <a:bodyPr>
            <a:normAutofit/>
          </a:bodyPr>
          <a:lstStyle/>
          <a:p>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CONTENT</a:t>
            </a:r>
            <a:endParaRPr lang="en-US"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457200"/>
            <a:ext cx="4320000" cy="900000"/>
          </a:xfrm>
        </p:spPr>
        <p:style>
          <a:lnRef idx="2">
            <a:schemeClr val="dk1"/>
          </a:lnRef>
          <a:fillRef idx="1">
            <a:schemeClr val="lt1"/>
          </a:fillRef>
          <a:effectRef idx="0">
            <a:schemeClr val="dk1"/>
          </a:effectRef>
          <a:fontRef idx="minor">
            <a:schemeClr val="dk1"/>
          </a:fontRef>
        </p:style>
        <p:txBody>
          <a:bodyPr>
            <a:normAutofit/>
          </a:bodyPr>
          <a:lstStyle/>
          <a:p>
            <a:r>
              <a:rPr lang="en-IN" sz="3600" b="1" dirty="0" smtClean="0">
                <a:effectLst>
                  <a:outerShdw blurRad="38100" dist="38100" dir="2700000" algn="tl">
                    <a:srgbClr val="000000">
                      <a:alpha val="43137"/>
                    </a:srgbClr>
                  </a:outerShdw>
                </a:effectLst>
                <a:latin typeface="Times New Roman" pitchFamily="18" charset="0"/>
                <a:cs typeface="Times New Roman" pitchFamily="18" charset="0"/>
              </a:rPr>
              <a:t>ABSTRACT</a:t>
            </a:r>
            <a:endParaRPr lang="en-US"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04800" y="1524000"/>
            <a:ext cx="8382000" cy="5029200"/>
          </a:xfrm>
        </p:spPr>
        <p:txBody>
          <a:bodyPr>
            <a:normAutofit fontScale="77500" lnSpcReduction="20000"/>
          </a:bodyPr>
          <a:lstStyle/>
          <a:p>
            <a:pPr>
              <a:buNone/>
            </a:pPr>
            <a:r>
              <a:rPr lang="en-US" dirty="0" smtClean="0">
                <a:latin typeface="Bahnschrift SemiLight" pitchFamily="34" charset="0"/>
              </a:rPr>
              <a:t>    </a:t>
            </a:r>
            <a:r>
              <a:rPr lang="en-US" sz="3800" dirty="0" smtClean="0">
                <a:latin typeface="Bahnschrift SemiLight" pitchFamily="34" charset="0"/>
              </a:rPr>
              <a:t>Belt conveyors play a pivotal role in the transportation of bulk materials across various terrains, including hilly landscapes. The conveyor passing suffers belt dislodgements due to various </a:t>
            </a:r>
            <a:r>
              <a:rPr lang="en-US" sz="3800" dirty="0" err="1" smtClean="0">
                <a:latin typeface="Bahnschrift SemiLight" pitchFamily="34" charset="0"/>
              </a:rPr>
              <a:t>reasons.The</a:t>
            </a:r>
            <a:r>
              <a:rPr lang="en-US" sz="3800" dirty="0" smtClean="0">
                <a:latin typeface="Bahnschrift SemiLight" pitchFamily="34" charset="0"/>
              </a:rPr>
              <a:t> consequences of these disruptions include costly downtime, material spillage, and safety hazards.</a:t>
            </a:r>
          </a:p>
          <a:p>
            <a:pPr>
              <a:buNone/>
            </a:pPr>
            <a:r>
              <a:rPr lang="en-US" sz="3800" dirty="0" smtClean="0">
                <a:latin typeface="Bahnschrift SemiLight" pitchFamily="34" charset="0"/>
              </a:rPr>
              <a:t>    This paper proposes an intelligent monitoring system, The system integrates </a:t>
            </a:r>
            <a:r>
              <a:rPr lang="en-US" sz="3800" dirty="0" err="1" smtClean="0">
                <a:latin typeface="Bahnschrift SemiLight" pitchFamily="34" charset="0"/>
              </a:rPr>
              <a:t>sensors,and</a:t>
            </a:r>
            <a:r>
              <a:rPr lang="en-US" sz="3800" dirty="0" smtClean="0">
                <a:latin typeface="Bahnschrift SemiLight" pitchFamily="34" charset="0"/>
              </a:rPr>
              <a:t> real-time monitoring to detect and prevent potential dislodgement events before they occur.</a:t>
            </a:r>
          </a:p>
          <a:p>
            <a:endParaRPr lang="en-US" dirty="0">
              <a:latin typeface="Bahnschrift SemiLight"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nveyor-idlers-1-1920x635.jpg"/>
          <p:cNvPicPr>
            <a:picLocks noChangeAspect="1"/>
          </p:cNvPicPr>
          <p:nvPr/>
        </p:nvPicPr>
        <p:blipFill>
          <a:blip r:embed="rId2"/>
          <a:stretch>
            <a:fillRect/>
          </a:stretch>
        </p:blipFill>
        <p:spPr>
          <a:xfrm>
            <a:off x="838201" y="685800"/>
            <a:ext cx="4343400" cy="5638800"/>
          </a:xfrm>
          <a:prstGeom prst="rect">
            <a:avLst/>
          </a:prstGeom>
        </p:spPr>
      </p:pic>
      <p:pic>
        <p:nvPicPr>
          <p:cNvPr id="5" name="Picture 4" descr="download.jpg"/>
          <p:cNvPicPr>
            <a:picLocks noChangeAspect="1"/>
          </p:cNvPicPr>
          <p:nvPr/>
        </p:nvPicPr>
        <p:blipFill>
          <a:blip r:embed="rId3"/>
          <a:stretch>
            <a:fillRect/>
          </a:stretch>
        </p:blipFill>
        <p:spPr>
          <a:xfrm>
            <a:off x="5257800" y="1143000"/>
            <a:ext cx="3505200" cy="267176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latin typeface="Bahnschrift SemiLight" pitchFamily="34" charset="0"/>
                <a:cs typeface="Times New Roman" panose="02020603050405020304" charset="0"/>
                <a:sym typeface="+mn-ea"/>
              </a:rPr>
              <a:t>The device should serve following features </a:t>
            </a:r>
          </a:p>
          <a:p>
            <a:r>
              <a:rPr lang="en-US" dirty="0" smtClean="0">
                <a:latin typeface="Bahnschrift SemiLight" pitchFamily="34" charset="0"/>
              </a:rPr>
              <a:t>To Maintain proper </a:t>
            </a:r>
            <a:r>
              <a:rPr lang="en-US" dirty="0" err="1" smtClean="0">
                <a:latin typeface="Bahnschrift SemiLight" pitchFamily="34" charset="0"/>
              </a:rPr>
              <a:t>troughing</a:t>
            </a:r>
            <a:r>
              <a:rPr lang="en-US" dirty="0" smtClean="0">
                <a:latin typeface="Bahnschrift SemiLight" pitchFamily="34" charset="0"/>
              </a:rPr>
              <a:t> angle</a:t>
            </a:r>
          </a:p>
          <a:p>
            <a:r>
              <a:rPr lang="en-US" dirty="0" smtClean="0">
                <a:latin typeface="Bahnschrift SemiLight" pitchFamily="34" charset="0"/>
              </a:rPr>
              <a:t>To Monitor the belt tracking and keep it always in a central position</a:t>
            </a:r>
          </a:p>
          <a:p>
            <a:r>
              <a:rPr lang="en-US" dirty="0" smtClean="0">
                <a:latin typeface="Bahnschrift SemiLight" pitchFamily="34" charset="0"/>
              </a:rPr>
              <a:t>Implementing a Notification Mechanism</a:t>
            </a:r>
          </a:p>
        </p:txBody>
      </p:sp>
      <p:sp>
        <p:nvSpPr>
          <p:cNvPr id="4" name="Title 2"/>
          <p:cNvSpPr>
            <a:spLocks noGrp="1"/>
          </p:cNvSpPr>
          <p:nvPr>
            <p:ph type="title"/>
          </p:nvPr>
        </p:nvSpPr>
        <p:spPr>
          <a:xfrm>
            <a:off x="2362200" y="274638"/>
            <a:ext cx="4320000" cy="900000"/>
          </a:xfrm>
        </p:spPr>
        <p:style>
          <a:lnRef idx="2">
            <a:schemeClr val="dk1"/>
          </a:lnRef>
          <a:fillRef idx="1">
            <a:schemeClr val="lt1"/>
          </a:fillRef>
          <a:effectRef idx="0">
            <a:schemeClr val="dk1"/>
          </a:effectRef>
          <a:fontRef idx="minor">
            <a:schemeClr val="dk1"/>
          </a:fontRef>
        </p:style>
        <p:txBody>
          <a:bodyPr>
            <a:normAutofit/>
          </a:bodyPr>
          <a:lstStyle/>
          <a:p>
            <a:pPr algn="ctr"/>
            <a:r>
              <a:rPr lang="en-US" sz="3200"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OBJECTIVE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4724400" cy="900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EXISTING SOLUTION</a:t>
            </a:r>
            <a:endParaRPr lang="en-US"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9" name="TextBox 8"/>
          <p:cNvSpPr txBox="1"/>
          <p:nvPr/>
        </p:nvSpPr>
        <p:spPr>
          <a:xfrm>
            <a:off x="533400" y="1371600"/>
            <a:ext cx="7924800" cy="369332"/>
          </a:xfrm>
          <a:prstGeom prst="rect">
            <a:avLst/>
          </a:prstGeom>
          <a:noFill/>
        </p:spPr>
        <p:txBody>
          <a:bodyPr wrap="square" rtlCol="0">
            <a:spAutoFit/>
          </a:bodyPr>
          <a:lstStyle/>
          <a:p>
            <a:r>
              <a:rPr lang="en-IN" dirty="0" smtClean="0"/>
              <a:t>	</a:t>
            </a:r>
            <a:endParaRPr lang="en-US" dirty="0"/>
          </a:p>
        </p:txBody>
      </p:sp>
      <p:sp>
        <p:nvSpPr>
          <p:cNvPr id="10" name="TextBox 9"/>
          <p:cNvSpPr txBox="1"/>
          <p:nvPr/>
        </p:nvSpPr>
        <p:spPr>
          <a:xfrm>
            <a:off x="609600" y="1447800"/>
            <a:ext cx="7696200" cy="2831544"/>
          </a:xfrm>
          <a:prstGeom prst="rect">
            <a:avLst/>
          </a:prstGeom>
          <a:noFill/>
        </p:spPr>
        <p:txBody>
          <a:bodyPr wrap="square" rtlCol="0">
            <a:spAutoFit/>
          </a:bodyPr>
          <a:lstStyle/>
          <a:p>
            <a:pPr>
              <a:buFont typeface="Wingdings" pitchFamily="2" charset="2"/>
              <a:buChar char="ü"/>
            </a:pPr>
            <a:r>
              <a:rPr lang="en-US" sz="2000" dirty="0" smtClean="0">
                <a:latin typeface="Bahnschrift SemiLight" pitchFamily="34" charset="0"/>
                <a:cs typeface="Times New Roman" pitchFamily="18" charset="0"/>
              </a:rPr>
              <a:t>Conventional approaches to misalignment monitoring in conveyor systems often hinge on manual inspections</a:t>
            </a:r>
          </a:p>
          <a:p>
            <a:endParaRPr lang="en-US" sz="2000" dirty="0" smtClean="0">
              <a:solidFill>
                <a:srgbClr val="374151"/>
              </a:solidFill>
              <a:latin typeface="Bahnschrift SemiLight" pitchFamily="34" charset="0"/>
              <a:cs typeface="Times New Roman" pitchFamily="18" charset="0"/>
            </a:endParaRPr>
          </a:p>
          <a:p>
            <a:pPr>
              <a:buFont typeface="Wingdings" pitchFamily="2" charset="2"/>
              <a:buChar char="ü"/>
            </a:pPr>
            <a:r>
              <a:rPr lang="en-US" sz="2000" dirty="0" smtClean="0">
                <a:latin typeface="Bahnschrift SemiLight" pitchFamily="34" charset="0"/>
                <a:cs typeface="Times New Roman" pitchFamily="18" charset="0"/>
              </a:rPr>
              <a:t>Self-aligning idlers are engineered to automatically correct and maintain the alignment of both sides of conveyor belts internally</a:t>
            </a:r>
          </a:p>
          <a:p>
            <a:pPr>
              <a:buFont typeface="Wingdings" pitchFamily="2" charset="2"/>
              <a:buChar char="ü"/>
            </a:pPr>
            <a:endParaRPr lang="en-IN" sz="2000" dirty="0" smtClean="0">
              <a:latin typeface="Bahnschrift SemiLight" pitchFamily="34" charset="0"/>
              <a:cs typeface="Times New Roman" pitchFamily="18" charset="0"/>
            </a:endParaRPr>
          </a:p>
          <a:p>
            <a:pPr>
              <a:buFont typeface="Wingdings" pitchFamily="2" charset="2"/>
              <a:buChar char="ü"/>
            </a:pPr>
            <a:r>
              <a:rPr lang="en-US" sz="2000" dirty="0" smtClean="0">
                <a:latin typeface="Bahnschrift SemiLight" pitchFamily="34" charset="0"/>
                <a:cs typeface="Times New Roman" pitchFamily="18" charset="0"/>
              </a:rPr>
              <a:t>Regulating the motor to oversee the prevention of conveyor belt misalignment.</a:t>
            </a:r>
          </a:p>
          <a:p>
            <a:endParaRPr lang="en-US" dirty="0"/>
          </a:p>
        </p:txBody>
      </p:sp>
      <p:pic>
        <p:nvPicPr>
          <p:cNvPr id="11" name="Picture 10" descr="adjust.jpg"/>
          <p:cNvPicPr>
            <a:picLocks noChangeAspect="1"/>
          </p:cNvPicPr>
          <p:nvPr/>
        </p:nvPicPr>
        <p:blipFill>
          <a:blip r:embed="rId3"/>
          <a:stretch>
            <a:fillRect/>
          </a:stretch>
        </p:blipFill>
        <p:spPr>
          <a:xfrm>
            <a:off x="381000" y="4267200"/>
            <a:ext cx="2933700" cy="1552575"/>
          </a:xfrm>
          <a:prstGeom prst="rect">
            <a:avLst/>
          </a:prstGeom>
        </p:spPr>
      </p:pic>
      <p:pic>
        <p:nvPicPr>
          <p:cNvPr id="12" name="Content Placeholder 3" descr="SSR-PRODUCT-4.jpg"/>
          <p:cNvPicPr>
            <a:picLocks noGrp="1" noChangeAspect="1"/>
          </p:cNvPicPr>
          <p:nvPr>
            <p:ph idx="1"/>
          </p:nvPr>
        </p:nvPicPr>
        <p:blipFill>
          <a:blip r:embed="rId4" cstate="print"/>
          <a:stretch>
            <a:fillRect/>
          </a:stretch>
        </p:blipFill>
        <p:spPr>
          <a:xfrm>
            <a:off x="3429000" y="4267200"/>
            <a:ext cx="2438400" cy="1567041"/>
          </a:xfrm>
        </p:spPr>
      </p:pic>
      <p:pic>
        <p:nvPicPr>
          <p:cNvPr id="13" name="Picture 12" descr="zero speed switch.jpg"/>
          <p:cNvPicPr>
            <a:picLocks noChangeAspect="1"/>
          </p:cNvPicPr>
          <p:nvPr/>
        </p:nvPicPr>
        <p:blipFill>
          <a:blip r:embed="rId5"/>
          <a:stretch>
            <a:fillRect/>
          </a:stretch>
        </p:blipFill>
        <p:spPr>
          <a:xfrm>
            <a:off x="6019800" y="4267200"/>
            <a:ext cx="2667000" cy="15240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274638"/>
            <a:ext cx="4724400" cy="900000"/>
          </a:xfrm>
        </p:spPr>
        <p:style>
          <a:lnRef idx="2">
            <a:schemeClr val="dk1"/>
          </a:lnRef>
          <a:fillRef idx="1">
            <a:schemeClr val="lt1"/>
          </a:fillRef>
          <a:effectRef idx="0">
            <a:schemeClr val="dk1"/>
          </a:effectRef>
          <a:fontRef idx="minor">
            <a:schemeClr val="dk1"/>
          </a:fontRef>
        </p:style>
        <p:txBody>
          <a:bodyPr>
            <a:normAutofit/>
          </a:bodyPr>
          <a:lstStyle/>
          <a:p>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PROPOSED SOLUTION</a:t>
            </a:r>
            <a:endParaRPr lang="en-US" sz="3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US" dirty="0" smtClean="0">
                <a:latin typeface="Times New Roman" pitchFamily="18" charset="0"/>
                <a:cs typeface="Times New Roman" pitchFamily="18" charset="0"/>
              </a:rPr>
              <a:t>   </a:t>
            </a:r>
            <a:r>
              <a:rPr lang="en-US" dirty="0" smtClean="0">
                <a:latin typeface="Bahnschrift SemiLight" pitchFamily="34" charset="0"/>
                <a:cs typeface="Times New Roman" pitchFamily="18" charset="0"/>
              </a:rPr>
              <a:t>Designing a Belt Tracking Monitoring Device by Integrating a Light Sensor Adjacent to the Motor, Employing a Buzzer as an Alarm to Detect Heightened Misalignment, and Incorporating a Bluetooth Module for Instant Alert Notifications.</a:t>
            </a:r>
            <a:r>
              <a:rPr lang="en-US" dirty="0" smtClean="0">
                <a:latin typeface="Bahnschrift SemiLight" pitchFamily="34" charset="0"/>
              </a:rPr>
              <a:t/>
            </a:r>
            <a:br>
              <a:rPr lang="en-US" dirty="0" smtClean="0">
                <a:latin typeface="Bahnschrift SemiLight" pitchFamily="34" charset="0"/>
              </a:rPr>
            </a:br>
            <a:r>
              <a:rPr lang="en-US" dirty="0" smtClean="0"/>
              <a:t/>
            </a:r>
            <a:br>
              <a:rPr lang="en-US" dirty="0" smtClean="0"/>
            </a:b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81000"/>
            <a:ext cx="5867400" cy="900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dirty="0" smtClean="0"/>
              <a:t> </a:t>
            </a: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COMPONENTS REQUIRED</a:t>
            </a:r>
            <a:r>
              <a:rPr lang="en-US" dirty="0" smtClean="0"/>
              <a:t>	</a:t>
            </a:r>
            <a:endParaRPr lang="en-US" dirty="0"/>
          </a:p>
        </p:txBody>
      </p:sp>
      <p:sp>
        <p:nvSpPr>
          <p:cNvPr id="3" name="Content Placeholder 2"/>
          <p:cNvSpPr>
            <a:spLocks noGrp="1"/>
          </p:cNvSpPr>
          <p:nvPr>
            <p:ph idx="1"/>
          </p:nvPr>
        </p:nvSpPr>
        <p:spPr/>
        <p:txBody>
          <a:bodyPr>
            <a:normAutofit/>
          </a:bodyPr>
          <a:lstStyle/>
          <a:p>
            <a:pPr marL="914400" lvl="1" indent="-514350">
              <a:buFont typeface="+mj-lt"/>
              <a:buAutoNum type="arabicPeriod"/>
            </a:pPr>
            <a:r>
              <a:rPr lang="en-IN" sz="3200" dirty="0" err="1" smtClean="0">
                <a:latin typeface="Bahnschrift SemiLight" pitchFamily="34" charset="0"/>
              </a:rPr>
              <a:t>Arduino</a:t>
            </a:r>
            <a:r>
              <a:rPr lang="en-IN" sz="3200" dirty="0" smtClean="0">
                <a:latin typeface="Bahnschrift SemiLight" pitchFamily="34" charset="0"/>
              </a:rPr>
              <a:t> UNO board</a:t>
            </a:r>
          </a:p>
          <a:p>
            <a:pPr marL="914400" lvl="1" indent="-514350">
              <a:buFont typeface="+mj-lt"/>
              <a:buAutoNum type="arabicPeriod"/>
            </a:pPr>
            <a:r>
              <a:rPr lang="en-IN" sz="3200" dirty="0" smtClean="0">
                <a:latin typeface="Bahnschrift SemiLight" pitchFamily="34" charset="0"/>
              </a:rPr>
              <a:t>Infrared Sensor</a:t>
            </a:r>
          </a:p>
          <a:p>
            <a:pPr marL="914400" lvl="1" indent="-514350">
              <a:buFont typeface="+mj-lt"/>
              <a:buAutoNum type="arabicPeriod"/>
            </a:pPr>
            <a:r>
              <a:rPr lang="en-IN" sz="3200" dirty="0" smtClean="0">
                <a:latin typeface="Bahnschrift SemiLight" pitchFamily="34" charset="0"/>
              </a:rPr>
              <a:t>Bluetooth module</a:t>
            </a:r>
          </a:p>
          <a:p>
            <a:pPr marL="914400" lvl="1" indent="-514350">
              <a:buFont typeface="+mj-lt"/>
              <a:buAutoNum type="arabicPeriod"/>
            </a:pPr>
            <a:r>
              <a:rPr lang="en-IN" sz="3200" dirty="0" smtClean="0">
                <a:latin typeface="Bahnschrift SemiLight" pitchFamily="34" charset="0"/>
              </a:rPr>
              <a:t>Buzzer</a:t>
            </a:r>
          </a:p>
          <a:p>
            <a:pPr marL="914400" lvl="1" indent="-514350">
              <a:buFont typeface="+mj-lt"/>
              <a:buAutoNum type="arabicPeriod"/>
            </a:pPr>
            <a:r>
              <a:rPr lang="en-IN" sz="3200" dirty="0" smtClean="0">
                <a:latin typeface="Bahnschrift SemiLight" pitchFamily="34" charset="0"/>
              </a:rPr>
              <a:t>Connecting Wires</a:t>
            </a:r>
            <a:endParaRPr lang="en-US" sz="3200" dirty="0">
              <a:latin typeface="Bahnschrift SemiLight" pitchFamily="34" charset="0"/>
            </a:endParaRPr>
          </a:p>
        </p:txBody>
      </p:sp>
      <p:pic>
        <p:nvPicPr>
          <p:cNvPr id="6" name="Picture 2" descr="C:\Users\Yuvaraj\Pictures\New folder (2)\bluetooth.jpg"/>
          <p:cNvPicPr>
            <a:picLocks noChangeAspect="1" noChangeArrowheads="1"/>
          </p:cNvPicPr>
          <p:nvPr/>
        </p:nvPicPr>
        <p:blipFill>
          <a:blip r:embed="rId2"/>
          <a:srcRect/>
          <a:stretch>
            <a:fillRect/>
          </a:stretch>
        </p:blipFill>
        <p:spPr bwMode="auto">
          <a:xfrm>
            <a:off x="6400800" y="3962400"/>
            <a:ext cx="2362200" cy="2590800"/>
          </a:xfrm>
          <a:prstGeom prst="rect">
            <a:avLst/>
          </a:prstGeom>
          <a:noFill/>
        </p:spPr>
      </p:pic>
      <p:pic>
        <p:nvPicPr>
          <p:cNvPr id="1028" name="Picture 4" descr="C:\Users\Yuvaraj\Pictures\New folder (2)\buzzer.png"/>
          <p:cNvPicPr>
            <a:picLocks noChangeAspect="1" noChangeArrowheads="1"/>
          </p:cNvPicPr>
          <p:nvPr/>
        </p:nvPicPr>
        <p:blipFill>
          <a:blip r:embed="rId3" cstate="print"/>
          <a:srcRect/>
          <a:stretch>
            <a:fillRect/>
          </a:stretch>
        </p:blipFill>
        <p:spPr bwMode="auto">
          <a:xfrm>
            <a:off x="7696200" y="2743200"/>
            <a:ext cx="1066800" cy="914400"/>
          </a:xfrm>
          <a:prstGeom prst="rect">
            <a:avLst/>
          </a:prstGeom>
          <a:noFill/>
        </p:spPr>
      </p:pic>
      <p:pic>
        <p:nvPicPr>
          <p:cNvPr id="1029" name="Picture 5" descr="C:\Users\Yuvaraj\Pictures\New folder (2)\ir sens.jpg"/>
          <p:cNvPicPr>
            <a:picLocks noChangeAspect="1" noChangeArrowheads="1"/>
          </p:cNvPicPr>
          <p:nvPr/>
        </p:nvPicPr>
        <p:blipFill>
          <a:blip r:embed="rId4" cstate="print"/>
          <a:srcRect/>
          <a:stretch>
            <a:fillRect/>
          </a:stretch>
        </p:blipFill>
        <p:spPr bwMode="auto">
          <a:xfrm>
            <a:off x="4572000" y="4572000"/>
            <a:ext cx="1828800" cy="19812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5334000" cy="793638"/>
          </a:xfrm>
        </p:spPr>
        <p:style>
          <a:lnRef idx="2">
            <a:schemeClr val="dk1"/>
          </a:lnRef>
          <a:fillRef idx="1">
            <a:schemeClr val="lt1"/>
          </a:fillRef>
          <a:effectRef idx="0">
            <a:schemeClr val="dk1"/>
          </a:effectRef>
          <a:fontRef idx="minor">
            <a:schemeClr val="dk1"/>
          </a:fontRef>
        </p:style>
        <p:txBody>
          <a:bodyPr>
            <a:normAutofit/>
          </a:bodyPr>
          <a:lstStyle/>
          <a:p>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BLOCK DIAGRAM</a:t>
            </a:r>
            <a:endParaRPr lang="en-US" sz="3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Rectangle: Rounded Corners 28">
            <a:extLst>
              <a:ext uri="{FF2B5EF4-FFF2-40B4-BE49-F238E27FC236}">
                <a16:creationId xmlns="" xmlns:a16="http://schemas.microsoft.com/office/drawing/2014/main" id="{B8BDC7DF-3D56-1A66-A8E3-4B61F807E8C7}"/>
              </a:ext>
            </a:extLst>
          </p:cNvPr>
          <p:cNvSpPr>
            <a:spLocks noGrp="1"/>
          </p:cNvSpPr>
          <p:nvPr>
            <p:ph idx="1"/>
          </p:nvPr>
        </p:nvSpPr>
        <p:spPr>
          <a:xfrm>
            <a:off x="381000" y="3352800"/>
            <a:ext cx="1447800" cy="83819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rtlCol="0" anchor="ctr">
            <a:normAutofit fontScale="55000" lnSpcReduction="20000"/>
          </a:bodyPr>
          <a:lstStyle/>
          <a:p>
            <a:pPr algn="ctr">
              <a:buNone/>
            </a:pPr>
            <a:r>
              <a:rPr lang="en-US" dirty="0" smtClean="0">
                <a:latin typeface="Libre Baskerville Bold"/>
              </a:rPr>
              <a:t>POWER</a:t>
            </a:r>
          </a:p>
          <a:p>
            <a:pPr algn="ctr">
              <a:buNone/>
            </a:pPr>
            <a:r>
              <a:rPr lang="en-US" dirty="0" smtClean="0">
                <a:latin typeface="Libre Baskerville Bold"/>
              </a:rPr>
              <a:t>SUPPLY	</a:t>
            </a:r>
            <a:endParaRPr lang="en-IN" dirty="0">
              <a:latin typeface="Libre Baskerville Bold"/>
            </a:endParaRPr>
          </a:p>
        </p:txBody>
      </p:sp>
      <p:sp>
        <p:nvSpPr>
          <p:cNvPr id="5" name="Rectangle: Rounded Corners 28">
            <a:extLst>
              <a:ext uri="{FF2B5EF4-FFF2-40B4-BE49-F238E27FC236}">
                <a16:creationId xmlns="" xmlns:a16="http://schemas.microsoft.com/office/drawing/2014/main" id="{B8BDC7DF-3D56-1A66-A8E3-4B61F807E8C7}"/>
              </a:ext>
            </a:extLst>
          </p:cNvPr>
          <p:cNvSpPr/>
          <p:nvPr/>
        </p:nvSpPr>
        <p:spPr>
          <a:xfrm>
            <a:off x="3124200" y="3276600"/>
            <a:ext cx="1671484" cy="1002891"/>
          </a:xfrm>
          <a:prstGeom prst="roundRect">
            <a:avLst>
              <a:gd name="adj" fmla="val 24083"/>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Libre Baskerville Bold"/>
              </a:rPr>
              <a:t>ARDUINO UNO	</a:t>
            </a:r>
            <a:endParaRPr lang="en-IN" dirty="0">
              <a:latin typeface="Libre Baskerville Bold"/>
            </a:endParaRPr>
          </a:p>
        </p:txBody>
      </p:sp>
      <p:sp>
        <p:nvSpPr>
          <p:cNvPr id="6" name="Rectangle: Rounded Corners 28">
            <a:extLst>
              <a:ext uri="{FF2B5EF4-FFF2-40B4-BE49-F238E27FC236}">
                <a16:creationId xmlns="" xmlns:a16="http://schemas.microsoft.com/office/drawing/2014/main" id="{B8BDC7DF-3D56-1A66-A8E3-4B61F807E8C7}"/>
              </a:ext>
            </a:extLst>
          </p:cNvPr>
          <p:cNvSpPr/>
          <p:nvPr/>
        </p:nvSpPr>
        <p:spPr>
          <a:xfrm>
            <a:off x="6248400" y="3276600"/>
            <a:ext cx="1752600" cy="990600"/>
          </a:xfrm>
          <a:prstGeom prst="roundRect">
            <a:avLst>
              <a:gd name="adj" fmla="val 24083"/>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Libre Baskerville Bold"/>
              </a:rPr>
              <a:t>IR SENSOR</a:t>
            </a:r>
          </a:p>
        </p:txBody>
      </p:sp>
      <p:sp>
        <p:nvSpPr>
          <p:cNvPr id="7" name="Rectangle: Rounded Corners 28">
            <a:extLst>
              <a:ext uri="{FF2B5EF4-FFF2-40B4-BE49-F238E27FC236}">
                <a16:creationId xmlns="" xmlns:a16="http://schemas.microsoft.com/office/drawing/2014/main" id="{B8BDC7DF-3D56-1A66-A8E3-4B61F807E8C7}"/>
              </a:ext>
            </a:extLst>
          </p:cNvPr>
          <p:cNvSpPr/>
          <p:nvPr/>
        </p:nvSpPr>
        <p:spPr>
          <a:xfrm>
            <a:off x="3200400" y="1524000"/>
            <a:ext cx="1524000" cy="1002891"/>
          </a:xfrm>
          <a:prstGeom prst="roundRect">
            <a:avLst>
              <a:gd name="adj" fmla="val 24083"/>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Libre Baskerville Bold"/>
              </a:rPr>
              <a:t>BUZZER</a:t>
            </a:r>
          </a:p>
        </p:txBody>
      </p:sp>
      <p:sp>
        <p:nvSpPr>
          <p:cNvPr id="8" name="Rectangle: Rounded Corners 28">
            <a:extLst>
              <a:ext uri="{FF2B5EF4-FFF2-40B4-BE49-F238E27FC236}">
                <a16:creationId xmlns="" xmlns:a16="http://schemas.microsoft.com/office/drawing/2014/main" id="{B8BDC7DF-3D56-1A66-A8E3-4B61F807E8C7}"/>
              </a:ext>
            </a:extLst>
          </p:cNvPr>
          <p:cNvSpPr/>
          <p:nvPr/>
        </p:nvSpPr>
        <p:spPr>
          <a:xfrm>
            <a:off x="3048000" y="5029200"/>
            <a:ext cx="1828800" cy="926691"/>
          </a:xfrm>
          <a:prstGeom prst="roundRect">
            <a:avLst>
              <a:gd name="adj" fmla="val 24083"/>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Libre Baskerville Bold"/>
              </a:rPr>
              <a:t>BLUETOOTH MODULE</a:t>
            </a:r>
          </a:p>
        </p:txBody>
      </p:sp>
      <p:sp>
        <p:nvSpPr>
          <p:cNvPr id="9" name="TextBox 8"/>
          <p:cNvSpPr txBox="1"/>
          <p:nvPr/>
        </p:nvSpPr>
        <p:spPr>
          <a:xfrm>
            <a:off x="6477000" y="5334000"/>
            <a:ext cx="1676400" cy="369332"/>
          </a:xfrm>
          <a:prstGeom prst="rect">
            <a:avLst/>
          </a:prstGeom>
          <a:noFill/>
        </p:spPr>
        <p:txBody>
          <a:bodyPr wrap="square" rtlCol="0">
            <a:spAutoFit/>
          </a:bodyPr>
          <a:lstStyle/>
          <a:p>
            <a:r>
              <a:rPr lang="en-IN" dirty="0" smtClean="0"/>
              <a:t>RECEIVE SMS</a:t>
            </a:r>
            <a:endParaRPr lang="en-US" dirty="0"/>
          </a:p>
        </p:txBody>
      </p:sp>
      <p:cxnSp>
        <p:nvCxnSpPr>
          <p:cNvPr id="11" name="Straight Arrow Connector 10"/>
          <p:cNvCxnSpPr>
            <a:stCxn id="4" idx="3"/>
            <a:endCxn id="5" idx="1"/>
          </p:cNvCxnSpPr>
          <p:nvPr/>
        </p:nvCxnSpPr>
        <p:spPr>
          <a:xfrm>
            <a:off x="1828800" y="3771900"/>
            <a:ext cx="1295400" cy="6146"/>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4" name="Curved Connector 33"/>
          <p:cNvCxnSpPr>
            <a:stCxn id="5" idx="3"/>
            <a:endCxn id="6" idx="1"/>
          </p:cNvCxnSpPr>
          <p:nvPr/>
        </p:nvCxnSpPr>
        <p:spPr>
          <a:xfrm flipV="1">
            <a:off x="4795684" y="3771900"/>
            <a:ext cx="1452716" cy="6146"/>
          </a:xfrm>
          <a:prstGeom prst="curvedConnector3">
            <a:avLst>
              <a:gd name="adj1" fmla="val 50000"/>
            </a:avLst>
          </a:prstGeom>
          <a:ln>
            <a:headEnd type="arrow"/>
            <a:tailEnd type="arrow"/>
          </a:ln>
        </p:spPr>
        <p:style>
          <a:lnRef idx="2">
            <a:schemeClr val="accent4"/>
          </a:lnRef>
          <a:fillRef idx="0">
            <a:schemeClr val="accent4"/>
          </a:fillRef>
          <a:effectRef idx="1">
            <a:schemeClr val="accent4"/>
          </a:effectRef>
          <a:fontRef idx="minor">
            <a:schemeClr val="tx1"/>
          </a:fontRef>
        </p:style>
      </p:cxnSp>
      <p:cxnSp>
        <p:nvCxnSpPr>
          <p:cNvPr id="37" name="Straight Arrow Connector 36"/>
          <p:cNvCxnSpPr>
            <a:stCxn id="5" idx="0"/>
            <a:endCxn id="7" idx="2"/>
          </p:cNvCxnSpPr>
          <p:nvPr/>
        </p:nvCxnSpPr>
        <p:spPr>
          <a:xfrm rot="5400000" flipH="1" flipV="1">
            <a:off x="3586317" y="2900517"/>
            <a:ext cx="749709" cy="245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43" name="Straight Arrow Connector 42"/>
          <p:cNvCxnSpPr>
            <a:stCxn id="5" idx="2"/>
            <a:endCxn id="8" idx="0"/>
          </p:cNvCxnSpPr>
          <p:nvPr/>
        </p:nvCxnSpPr>
        <p:spPr>
          <a:xfrm rot="16200000" flipH="1">
            <a:off x="3586317" y="4653116"/>
            <a:ext cx="749709" cy="245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46" name="Straight Arrow Connector 45"/>
          <p:cNvCxnSpPr>
            <a:stCxn id="8" idx="3"/>
            <a:endCxn id="9" idx="1"/>
          </p:cNvCxnSpPr>
          <p:nvPr/>
        </p:nvCxnSpPr>
        <p:spPr>
          <a:xfrm>
            <a:off x="4876800" y="5492546"/>
            <a:ext cx="1600200" cy="2612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274638"/>
            <a:ext cx="4320000" cy="900000"/>
          </a:xfrm>
        </p:spPr>
        <p:style>
          <a:lnRef idx="2">
            <a:schemeClr val="dk1"/>
          </a:lnRef>
          <a:fillRef idx="1">
            <a:schemeClr val="lt1"/>
          </a:fillRef>
          <a:effectRef idx="0">
            <a:schemeClr val="dk1"/>
          </a:effectRef>
          <a:fontRef idx="minor">
            <a:schemeClr val="dk1"/>
          </a:fontRef>
        </p:style>
        <p:txBody>
          <a:bodyPr>
            <a:normAutofit/>
          </a:bodyPr>
          <a:lstStyle/>
          <a:p>
            <a:r>
              <a:rPr lang="en-IN" sz="3600" b="1" dirty="0" smtClean="0">
                <a:effectLst>
                  <a:outerShdw blurRad="38100" dist="38100" dir="2700000" algn="tl">
                    <a:srgbClr val="000000">
                      <a:alpha val="43137"/>
                    </a:srgbClr>
                  </a:outerShdw>
                </a:effectLst>
                <a:latin typeface="Times New Roman" pitchFamily="18" charset="0"/>
                <a:cs typeface="Times New Roman" pitchFamily="18" charset="0"/>
              </a:rPr>
              <a:t>ADVANTAGES</a:t>
            </a:r>
            <a:endParaRPr lang="en-US"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524000"/>
            <a:ext cx="8229600" cy="5029200"/>
          </a:xfrm>
        </p:spPr>
        <p:txBody>
          <a:bodyPr>
            <a:normAutofit fontScale="92500" lnSpcReduction="10000"/>
          </a:bodyPr>
          <a:lstStyle/>
          <a:p>
            <a:r>
              <a:rPr lang="en-US" b="1" dirty="0" smtClean="0">
                <a:latin typeface="Times New Roman" pitchFamily="18" charset="0"/>
                <a:cs typeface="Times New Roman" pitchFamily="18" charset="0"/>
              </a:rPr>
              <a:t>Improved Efficiency</a:t>
            </a:r>
            <a:r>
              <a:rPr lang="en-US" dirty="0" smtClean="0"/>
              <a:t>: </a:t>
            </a:r>
            <a:r>
              <a:rPr lang="en-US" dirty="0" smtClean="0">
                <a:latin typeface="Bahnschrift SemiLight" pitchFamily="34" charset="0"/>
                <a:cs typeface="Times New Roman" pitchFamily="18" charset="0"/>
              </a:rPr>
              <a:t>Proper belt tracking ensures that the conveyor belt stays centered on the rollers, minimizing friction and wear.</a:t>
            </a:r>
          </a:p>
          <a:p>
            <a:r>
              <a:rPr lang="en-US" b="1" dirty="0" smtClean="0">
                <a:latin typeface="Times New Roman" pitchFamily="18" charset="0"/>
                <a:cs typeface="Times New Roman" pitchFamily="18" charset="0"/>
              </a:rPr>
              <a:t>Enhanced Safety</a:t>
            </a:r>
            <a:r>
              <a:rPr lang="en-US" dirty="0" smtClean="0"/>
              <a:t>: </a:t>
            </a:r>
            <a:r>
              <a:rPr lang="en-US" dirty="0" smtClean="0">
                <a:latin typeface="Bahnschrift SemiLight" pitchFamily="34" charset="0"/>
                <a:cs typeface="Times New Roman" pitchFamily="18" charset="0"/>
              </a:rPr>
              <a:t>Belt misalignment can lead to accidents such as material spillage, belt slippage, or even belt derailment.</a:t>
            </a:r>
          </a:p>
          <a:p>
            <a:r>
              <a:rPr lang="en-US" b="1" dirty="0" smtClean="0">
                <a:latin typeface="Times New Roman" pitchFamily="18" charset="0"/>
                <a:cs typeface="Times New Roman" pitchFamily="18" charset="0"/>
              </a:rPr>
              <a:t>Real-time Monitoring and Alerts</a:t>
            </a:r>
            <a:r>
              <a:rPr lang="en-US" dirty="0" smtClean="0"/>
              <a:t>: </a:t>
            </a:r>
            <a:r>
              <a:rPr lang="en-US" dirty="0" smtClean="0">
                <a:latin typeface="Bahnschrift SemiLight" pitchFamily="34" charset="0"/>
                <a:cs typeface="Times New Roman" pitchFamily="18" charset="0"/>
              </a:rPr>
              <a:t>This allows operators to take immediate corrective actions, preventing potential issues from escalating</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274638"/>
            <a:ext cx="4267200" cy="900000"/>
          </a:xfrm>
        </p:spPr>
        <p:style>
          <a:lnRef idx="2">
            <a:schemeClr val="dk1"/>
          </a:lnRef>
          <a:fillRef idx="1">
            <a:schemeClr val="lt1"/>
          </a:fillRef>
          <a:effectRef idx="0">
            <a:schemeClr val="dk1"/>
          </a:effectRef>
          <a:fontRef idx="minor">
            <a:schemeClr val="dk1"/>
          </a:fontRef>
        </p:style>
        <p:txBody>
          <a:bodyPr>
            <a:normAutofit/>
          </a:bodyPr>
          <a:lstStyle/>
          <a:p>
            <a:r>
              <a:rPr lang="en-IN" sz="3600" b="1" dirty="0" smtClean="0">
                <a:effectLst>
                  <a:outerShdw blurRad="38100" dist="38100" dir="2700000" algn="tl">
                    <a:srgbClr val="000000">
                      <a:alpha val="43137"/>
                    </a:srgbClr>
                  </a:outerShdw>
                </a:effectLst>
                <a:latin typeface="Times New Roman" pitchFamily="18" charset="0"/>
                <a:cs typeface="Times New Roman" pitchFamily="18" charset="0"/>
              </a:rPr>
              <a:t>CONCLUSION</a:t>
            </a:r>
            <a:endParaRPr lang="en-US"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410200"/>
          </a:xfrm>
        </p:spPr>
        <p:txBody>
          <a:bodyPr>
            <a:normAutofit fontScale="47500" lnSpcReduction="20000"/>
          </a:bodyPr>
          <a:lstStyle/>
          <a:p>
            <a:pPr>
              <a:buNone/>
            </a:pPr>
            <a:r>
              <a:rPr lang="en-US" dirty="0" smtClean="0">
                <a:latin typeface="Bahnschrift SemiLight" pitchFamily="34" charset="0"/>
              </a:rPr>
              <a:t>       </a:t>
            </a:r>
            <a:r>
              <a:rPr lang="en-US" sz="5800" dirty="0" smtClean="0">
                <a:latin typeface="Bahnschrift SemiLight" pitchFamily="34" charset="0"/>
                <a:cs typeface="Times New Roman" pitchFamily="18" charset="0"/>
              </a:rPr>
              <a:t>In this paper, we present a conveyor belt monitoring system designed to enhance operational efficiency and reduce maintenance costs. Our system integrates infrared (IR) sensors to detect misalignment along the conveyor belt. When misalignment is detected, alerts are transmitted via a Bluetooth module to </a:t>
            </a:r>
            <a:r>
              <a:rPr lang="en-US" sz="5800" dirty="0" err="1" smtClean="0">
                <a:latin typeface="Bahnschrift SemiLight" pitchFamily="34" charset="0"/>
                <a:cs typeface="Times New Roman" pitchFamily="18" charset="0"/>
              </a:rPr>
              <a:t>smartphones</a:t>
            </a:r>
            <a:r>
              <a:rPr lang="en-US" sz="5800" dirty="0" smtClean="0">
                <a:latin typeface="Bahnschrift SemiLight" pitchFamily="34" charset="0"/>
                <a:cs typeface="Times New Roman" pitchFamily="18" charset="0"/>
              </a:rPr>
              <a:t>, while a buzzer notifies nearby workers. By leveraging this technology, operators can swiftly identify issues, allowing for timely corrective actions. Consequently, this system minimizes repair expenses and reduces spillage costs, thereby streamlining operations and improving overall productivity</a:t>
            </a:r>
            <a:r>
              <a:rPr lang="en-US" sz="4600" dirty="0" smtClean="0">
                <a:latin typeface="Bahnschrift SemiLight" pitchFamily="34" charset="0"/>
                <a:cs typeface="Times New Roman" pitchFamily="18" charset="0"/>
              </a:rPr>
              <a:t>.</a:t>
            </a:r>
            <a:endParaRPr lang="en-US" sz="4600" dirty="0">
              <a:latin typeface="Bahnschrift SemiLight"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274638"/>
            <a:ext cx="4724400" cy="900000"/>
          </a:xfrm>
        </p:spPr>
        <p:style>
          <a:lnRef idx="2">
            <a:schemeClr val="dk1"/>
          </a:lnRef>
          <a:fillRef idx="1">
            <a:schemeClr val="lt1"/>
          </a:fillRef>
          <a:effectRef idx="0">
            <a:schemeClr val="dk1"/>
          </a:effectRef>
          <a:fontRef idx="minor">
            <a:schemeClr val="dk1"/>
          </a:fontRef>
        </p:style>
        <p:txBody>
          <a:bodyPr>
            <a:normAutofit/>
          </a:bodyPr>
          <a:lstStyle/>
          <a:p>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REFERENCES</a:t>
            </a:r>
            <a:endParaRPr lang="en-US"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Bahnschrift SemiLight" pitchFamily="34" charset="0"/>
                <a:cs typeface="Times New Roman" pitchFamily="18" charset="0"/>
                <a:hlinkClick r:id="rId2"/>
              </a:rPr>
              <a:t>Design and development of </a:t>
            </a:r>
            <a:r>
              <a:rPr lang="en-US" b="1" dirty="0" smtClean="0">
                <a:latin typeface="Bahnschrift SemiLight" pitchFamily="34" charset="0"/>
                <a:cs typeface="Times New Roman" pitchFamily="18" charset="0"/>
                <a:hlinkClick r:id="rId2"/>
              </a:rPr>
              <a:t>self</a:t>
            </a:r>
            <a:r>
              <a:rPr lang="en-US" dirty="0" smtClean="0">
                <a:latin typeface="Bahnschrift SemiLight" pitchFamily="34" charset="0"/>
                <a:cs typeface="Times New Roman" pitchFamily="18" charset="0"/>
                <a:hlinkClick r:id="rId2"/>
              </a:rPr>
              <a:t>-</a:t>
            </a:r>
            <a:r>
              <a:rPr lang="en-US" b="1" dirty="0" smtClean="0">
                <a:latin typeface="Bahnschrift SemiLight" pitchFamily="34" charset="0"/>
                <a:cs typeface="Times New Roman" pitchFamily="18" charset="0"/>
                <a:hlinkClick r:id="rId2"/>
              </a:rPr>
              <a:t>aligning </a:t>
            </a:r>
            <a:r>
              <a:rPr lang="en-US" dirty="0" err="1" smtClean="0">
                <a:latin typeface="Bahnschrift SemiLight" pitchFamily="34" charset="0"/>
                <a:cs typeface="Times New Roman" pitchFamily="18" charset="0"/>
                <a:hlinkClick r:id="rId2"/>
              </a:rPr>
              <a:t>troughing</a:t>
            </a:r>
            <a:r>
              <a:rPr lang="en-US" dirty="0" smtClean="0">
                <a:latin typeface="Bahnschrift SemiLight" pitchFamily="34" charset="0"/>
                <a:cs typeface="Times New Roman" pitchFamily="18" charset="0"/>
                <a:hlinkClick r:id="rId2"/>
              </a:rPr>
              <a:t> </a:t>
            </a:r>
            <a:r>
              <a:rPr lang="en-US" b="1" dirty="0" smtClean="0">
                <a:latin typeface="Bahnschrift SemiLight" pitchFamily="34" charset="0"/>
                <a:cs typeface="Times New Roman" pitchFamily="18" charset="0"/>
                <a:hlinkClick r:id="rId2"/>
              </a:rPr>
              <a:t>idler </a:t>
            </a:r>
            <a:r>
              <a:rPr lang="en-US" dirty="0" smtClean="0">
                <a:latin typeface="Bahnschrift SemiLight" pitchFamily="34" charset="0"/>
                <a:cs typeface="Times New Roman" pitchFamily="18" charset="0"/>
                <a:hlinkClick r:id="rId2"/>
              </a:rPr>
              <a:t>used in belt conveyor system</a:t>
            </a:r>
            <a:endParaRPr lang="en-US" dirty="0" smtClean="0">
              <a:latin typeface="Bahnschrift SemiLight" pitchFamily="34" charset="0"/>
              <a:cs typeface="Times New Roman" pitchFamily="18" charset="0"/>
            </a:endParaRPr>
          </a:p>
          <a:p>
            <a:r>
              <a:rPr lang="en-US" dirty="0" smtClean="0">
                <a:latin typeface="Bahnschrift SemiLight" pitchFamily="34" charset="0"/>
                <a:cs typeface="Times New Roman" pitchFamily="18" charset="0"/>
                <a:hlinkClick r:id="rId3"/>
              </a:rPr>
              <a:t>Condition monitoring of </a:t>
            </a:r>
            <a:r>
              <a:rPr lang="en-US" b="1" dirty="0" smtClean="0">
                <a:latin typeface="Bahnschrift SemiLight" pitchFamily="34" charset="0"/>
                <a:cs typeface="Times New Roman" pitchFamily="18" charset="0"/>
                <a:hlinkClick r:id="rId3"/>
              </a:rPr>
              <a:t>Self aligning </a:t>
            </a:r>
            <a:r>
              <a:rPr lang="en-US" dirty="0" smtClean="0">
                <a:latin typeface="Bahnschrift SemiLight" pitchFamily="34" charset="0"/>
                <a:cs typeface="Times New Roman" pitchFamily="18" charset="0"/>
                <a:hlinkClick r:id="rId3"/>
              </a:rPr>
              <a:t>carrying </a:t>
            </a:r>
            <a:r>
              <a:rPr lang="en-US" b="1" dirty="0" smtClean="0">
                <a:latin typeface="Bahnschrift SemiLight" pitchFamily="34" charset="0"/>
                <a:cs typeface="Times New Roman" pitchFamily="18" charset="0"/>
                <a:hlinkClick r:id="rId3"/>
              </a:rPr>
              <a:t>idler </a:t>
            </a:r>
            <a:r>
              <a:rPr lang="en-US" dirty="0" smtClean="0">
                <a:latin typeface="Bahnschrift SemiLight" pitchFamily="34" charset="0"/>
                <a:cs typeface="Times New Roman" pitchFamily="18" charset="0"/>
                <a:hlinkClick r:id="rId3"/>
              </a:rPr>
              <a:t>(SAI) in belt-conveyor system using statistical features</a:t>
            </a:r>
            <a:r>
              <a:rPr lang="en-US" u="sng" dirty="0" smtClean="0">
                <a:latin typeface="Bahnschrift SemiLight" pitchFamily="34" charset="0"/>
                <a:hlinkClick r:id="rId3"/>
              </a:rPr>
              <a:t> </a:t>
            </a:r>
            <a:endParaRPr lang="en-US" dirty="0" smtClean="0">
              <a:latin typeface="Bahnschrift SemiLight" pitchFamily="34" charset="0"/>
            </a:endParaRPr>
          </a:p>
          <a:p>
            <a:endParaRPr lang="en-US"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743201"/>
            <a:ext cx="5029200" cy="838200"/>
          </a:xfrm>
        </p:spPr>
        <p:txBody>
          <a:bodyPr>
            <a:normAutofit/>
          </a:bodyPr>
          <a:lstStyle/>
          <a:p>
            <a:pPr>
              <a:buNone/>
            </a:pPr>
            <a:r>
              <a:rPr lang="en-US" dirty="0" smtClean="0"/>
              <a:t>        </a:t>
            </a:r>
            <a:r>
              <a:rPr lang="en-US" sz="4000" dirty="0" smtClean="0">
                <a:latin typeface="Arial Black" pitchFamily="34" charset="0"/>
              </a:rPr>
              <a:t>THANK YOU</a:t>
            </a:r>
            <a:endParaRPr lang="en-US" sz="4000" dirty="0">
              <a:latin typeface="Arial Black"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590</TotalTime>
  <Words>496</Words>
  <Application>Microsoft Office PowerPoint</Application>
  <PresentationFormat>On-screen Show (4:3)</PresentationFormat>
  <Paragraphs>63</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 </vt:lpstr>
      <vt:lpstr>INTRODUCTION</vt:lpstr>
      <vt:lpstr>CONTENT</vt:lpstr>
      <vt:lpstr>ABSTRACT</vt:lpstr>
      <vt:lpstr>Slide 5</vt:lpstr>
      <vt:lpstr>OBJECTIVE</vt:lpstr>
      <vt:lpstr>EXISTING SOLUTION</vt:lpstr>
      <vt:lpstr>PROPOSED SOLUTION</vt:lpstr>
      <vt:lpstr> COMPONENTS REQUIRED </vt:lpstr>
      <vt:lpstr>BLOCK DIAGRAM</vt:lpstr>
      <vt:lpstr>ADVANTAGES</vt:lpstr>
      <vt:lpstr>CONCLUSION</vt:lpstr>
      <vt:lpstr>REFERENCES</vt:lpstr>
      <vt:lpstr>Slide 14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Yuvaraj</dc:creator>
  <cp:lastModifiedBy>Yuvaraj</cp:lastModifiedBy>
  <cp:revision>8</cp:revision>
  <dcterms:created xsi:type="dcterms:W3CDTF">2006-08-16T00:00:00Z</dcterms:created>
  <dcterms:modified xsi:type="dcterms:W3CDTF">2024-03-01T15:38:42Z</dcterms:modified>
</cp:coreProperties>
</file>